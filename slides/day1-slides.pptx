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4630400" cy="8229600"/>
  <p:notesSz cx="8229600" cy="14630400"/>
  <p:embeddedFontLst>
    <p:embeddedFont>
      <p:font typeface="PT Serif"/>
      <p:regular r:id="rId51"/>
    </p:embeddedFont>
    <p:embeddedFont>
      <p:font typeface="PT Serif"/>
      <p:regular r:id="rId52"/>
    </p:embeddedFont>
    <p:embeddedFont>
      <p:font typeface="PT Serif"/>
      <p:regular r:id="rId53"/>
    </p:embeddedFont>
    <p:embeddedFont>
      <p:font typeface="PT Serif"/>
      <p:regular r:id="rId54"/>
    </p:embeddedFont>
    <p:embeddedFont>
      <p:font typeface="DM Sans"/>
      <p:regular r:id="rId55"/>
    </p:embeddedFont>
    <p:embeddedFont>
      <p:font typeface="DM Sans"/>
      <p:regular r:id="rId56"/>
    </p:embeddedFont>
    <p:embeddedFont>
      <p:font typeface="DM Sans"/>
      <p:regular r:id="rId57"/>
    </p:embeddedFont>
    <p:embeddedFont>
      <p:font typeface="DM Sans"/>
      <p:regular r:id="rId5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openxmlformats.org/officeDocument/2006/relationships/font" Target="fonts/font1.fntdata"/><Relationship Id="rId52" Type="http://schemas.openxmlformats.org/officeDocument/2006/relationships/font" Target="fonts/font2.fntdata"/><Relationship Id="rId53" Type="http://schemas.openxmlformats.org/officeDocument/2006/relationships/font" Target="fonts/font3.fntdata"/><Relationship Id="rId54" Type="http://schemas.openxmlformats.org/officeDocument/2006/relationships/font" Target="fonts/font4.fntdata"/><Relationship Id="rId55" Type="http://schemas.openxmlformats.org/officeDocument/2006/relationships/font" Target="fonts/font5.fntdata"/><Relationship Id="rId56" Type="http://schemas.openxmlformats.org/officeDocument/2006/relationships/font" Target="fonts/font6.fntdata"/><Relationship Id="rId57" Type="http://schemas.openxmlformats.org/officeDocument/2006/relationships/font" Target="fonts/font7.fntdata"/><Relationship Id="rId5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7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20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8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36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38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39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4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4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45.xml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00601"/>
            <a:ext cx="713898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 for Wealth Management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398502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Day 1: From Prompts to Pipelines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60307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Scaled Focus Inc. for Kotak Securities | January 2026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Contact: nirant@scaledfocus.com | +91 7737887058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3769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By 4pm Today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362211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will turn a portfolio screenshot into a client-ready email using AI. No code. No API. Just prompts.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60307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about transforming how you work with data—moving from manual processes to intelligent automation that saves hours while improving accuracy.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292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Today's Learning Path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72081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75861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25016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10:00 Start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3758327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You've used ChatGPT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72081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75861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25016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11:30 Module 1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216962" y="3758327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can architect prompts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72081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075861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25016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14:15 Module 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9640133" y="3758327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can chain AI steps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5180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4873109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04741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15:00 Module 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93790" y="555557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can build reusable systems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5180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4873109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04741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16:00 Capstone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428548" y="555557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You've built an AI analyst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93790" y="63436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data all day. New skills each hour. By the end, you'll have a complete system you can use immediately.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690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You Need Today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19813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Required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7970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Browser with ChatGPT or Claude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392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Ability to paste images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814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Notepad for saving prompts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19813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 Provide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99521" y="37970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Portfolio screenshot (MProfit)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2392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 news screenshot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6814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prompt templates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378768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722858"/>
            <a:ext cx="283488" cy="22681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30906" y="5662255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Azure AI Foundry available for those who prefer Microsoft stack.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51315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Meet the Mehta Family Portfolio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389334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₹41Cr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4925139"/>
            <a:ext cx="2329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Total Portfolio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3407093" y="389334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11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3407093" y="4925139"/>
            <a:ext cx="2329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Asset Classes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020395" y="389334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-0.55%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6020395" y="4925139"/>
            <a:ext cx="2329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Sensex Today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93790" y="555236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screenshot will be your input all day. You'll extract data from it, analyze it, and generate client communications—all using AI.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994059"/>
            <a:ext cx="1111448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2062043"/>
            <a:ext cx="83927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MODULE 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511028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Advanced Prompt Architecture</a:t>
            </a:r>
            <a:endParaRPr lang="en-US" sz="4650" dirty="0"/>
          </a:p>
        </p:txBody>
      </p:sp>
      <p:sp>
        <p:nvSpPr>
          <p:cNvPr id="6" name="Text 3"/>
          <p:cNvSpPr/>
          <p:nvPr/>
        </p:nvSpPr>
        <p:spPr>
          <a:xfrm>
            <a:off x="793790" y="433970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Scaled Focus Inc. | nirant@scaledfocus.com | +91 7737887058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5071143"/>
            <a:ext cx="7556421" cy="35957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133951" y="5617369"/>
            <a:ext cx="72162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vague requests to precise instructions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5362218"/>
            <a:ext cx="30480" cy="873204"/>
          </a:xfrm>
          <a:prstGeom prst="rect">
            <a:avLst/>
          </a:prstGeom>
          <a:solidFill>
            <a:srgbClr val="E04F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8373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Prompts Fail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59497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Bad Prompt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33951" y="4222194"/>
            <a:ext cx="45448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"Look at this data and tell me what's happening."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222194"/>
            <a:ext cx="30480" cy="725805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6239828" y="359497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Problem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239828" y="419385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you get: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Generic, unfocused, inconsistent output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239828" y="476083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you need: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Specific, structured, reliable output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5829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AI is capable. Your instructions aren't. The difference between frustration and success is how you frame the task.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909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Framework 1: RGC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4869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good prompt has three parts: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05031"/>
            <a:ext cx="13042821" cy="2616518"/>
          </a:xfrm>
          <a:prstGeom prst="roundRect">
            <a:avLst>
              <a:gd name="adj" fmla="val 130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11265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343" y="325635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Component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7598" y="3256359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824" y="325635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76297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343" y="390667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637598" y="3906679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is the AI?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824" y="390667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"You are a senior portfolio analyst"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41329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343" y="455699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oal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637598" y="4556998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should it do?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5824" y="455699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"Identify the key risk for a client meeting"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06360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343" y="520731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onstraints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637598" y="5207318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are the rules?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45824" y="520731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"Use plain language, limit to 3 bullets"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5976699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320790"/>
            <a:ext cx="283488" cy="22681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30906" y="6260187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 trick: Role → Goal → Constraints = RGC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0202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RGC: Before &amp; After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299960" y="1858089"/>
            <a:ext cx="30480" cy="571119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763310" y="1858089"/>
            <a:ext cx="6521410" cy="2708077"/>
          </a:xfrm>
          <a:prstGeom prst="roundRect">
            <a:avLst>
              <a:gd name="adj" fmla="val 1256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4080867" y="20849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Before (no RGC)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90124" y="2593062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"Look at this data and tell me what's happening."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90124" y="3092053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role definition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90124" y="3534251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clear goal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90124" y="3976449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constraints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345680" y="5019794"/>
            <a:ext cx="6521410" cy="2549485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7572494" y="524660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After (with RGC)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572494" y="5754767"/>
            <a:ext cx="60677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"You are a senior portfolio analyst. Analyze this portfolio and identify the key risk for a client meeting. Constraints: Plain language (no jargon), limit to 3 bullet points."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72494" y="6979563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role, goal, and constraints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6432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Framework 2: STIC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46221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complex tasks, add structure: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80266"/>
            <a:ext cx="13042821" cy="3266837"/>
          </a:xfrm>
          <a:prstGeom prst="roundRect">
            <a:avLst>
              <a:gd name="adj" fmla="val 10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08788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343" y="323159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Component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7598" y="3231594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It Does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824" y="323159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73820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343" y="388191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ituation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637598" y="3881914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the context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824" y="388191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market is down 2% today"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38852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343" y="453223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637598" y="4532233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 the job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5824" y="453223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"Write a client reassurance email"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03884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343" y="518255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nstructions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637598" y="5182553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Step-by-step guidance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45824" y="518255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"First summarize, then recommend"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01410" y="568916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28343" y="5832872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ontext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3637598" y="5832872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 background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545824" y="583287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"Client is conservative, 65 years old"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93790" y="660225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STIC works well for multi-step or nuanced tasks that require deeper understanding.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2897"/>
            <a:ext cx="831294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When to Use Which Framework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470785"/>
            <a:ext cx="13042821" cy="3266837"/>
          </a:xfrm>
          <a:prstGeom prst="roundRect">
            <a:avLst>
              <a:gd name="adj" fmla="val 10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47840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62211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Situation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262211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197215" y="2622113"/>
            <a:ext cx="54049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12872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27243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Quick analysis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940379" y="327243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RGC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197215" y="3272433"/>
            <a:ext cx="54049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Simple, fast, gets straight to the point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77904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392275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 communication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940379" y="3922752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STIC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197215" y="3922752"/>
            <a:ext cx="54049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Needs context, nuance, and empathy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42936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457307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extraction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40379" y="4573072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RGC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197215" y="4573072"/>
            <a:ext cx="54049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output, minimal ambiguity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07968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5223391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940379" y="5223391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STIC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197215" y="5223391"/>
            <a:ext cx="54049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Requires reasoning and personalization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93790" y="5992773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336863"/>
            <a:ext cx="283488" cy="22681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30906" y="6276261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 of thumb: Start with RGC. Add STIC elements when output isn't right.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481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Powerful Constraints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542699"/>
            <a:ext cx="6407944" cy="1748552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79999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 Format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51084" y="3308152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"Respond in JSON", "Use bullet points", "Limit to 100 words"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542699"/>
            <a:ext cx="6408063" cy="1748552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279999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Tone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685842" y="3308152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"Use plain language", "Be reassuring", "No jargon"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518065"/>
            <a:ext cx="6407944" cy="1748552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477535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Logic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51084" y="528351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"Flag anything &gt;15% as concentration risk", "Compare to benchmark"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518065"/>
            <a:ext cx="6408063" cy="1748552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842" y="477535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Safety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685842" y="5283518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"Do not give specific buy/sell advice", "Include disclaimer"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5217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Constraints are where precision happens. They turn vague requests into actionable instructions.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54518"/>
            <a:ext cx="734198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Advanced: Meta-Prompting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1133951" y="3194090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"First, describe your analysis approach. Then, analyze the portfolio. Finally, summarize your key finding."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2938939"/>
            <a:ext cx="30480" cy="1236107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443019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works: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Forces structured reasoning, catches errors early, creates transparent decision-making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5411152"/>
            <a:ext cx="75564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5755243"/>
            <a:ext cx="283488" cy="2268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0906" y="5694640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 tip: Add "Think step by step" for complex analysis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341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Prompt Anti-Patterns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771299"/>
            <a:ext cx="13042821" cy="3266837"/>
          </a:xfrm>
          <a:prstGeom prst="roundRect">
            <a:avLst>
              <a:gd name="adj" fmla="val 10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77891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92262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Mistake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88988" y="292262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5824" y="292262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42923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57294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 vague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288988" y="357294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"Analyze this"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45824" y="357294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Specify what to analyze FOR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07955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422326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 long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288988" y="4223266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500-word prompt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45824" y="422326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constraints, not instructions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729877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487358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examples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288988" y="4873585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Unclear format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45824" y="487358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 one example of desired output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38019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552390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at once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288988" y="5523905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Overloaded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545824" y="552390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Break into steps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62932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Simplicity beats complexity. Add only what changes the output.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9497"/>
            <a:ext cx="75568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Same Data, Different Output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299960" y="1937385"/>
            <a:ext cx="30480" cy="5552599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763310" y="1937385"/>
            <a:ext cx="6521410" cy="2549485"/>
          </a:xfrm>
          <a:prstGeom prst="roundRect">
            <a:avLst>
              <a:gd name="adj" fmla="val 1335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4080867" y="216419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Vague Prompt Output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90124" y="2672358"/>
            <a:ext cx="60677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portfolio shows various investments including stocks, mutual funds, and other assets. There appears to be some gains and losses..."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90124" y="3897154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Generic, unhelpful, doesn't drive action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345680" y="4940498"/>
            <a:ext cx="6521410" cy="2549485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7572494" y="516731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RGC Prompt Output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572494" y="5675471"/>
            <a:ext cx="60677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"Key Risk: Stock concentration at 27% of portfolio during a down market (-0.55% Sensex). Action: Review equity allocation given client's risk profile."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72494" y="6900267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Specific, actionable, client-ready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405" y="598289"/>
            <a:ext cx="9675495" cy="713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Exercise: Make the AI a Better Analyst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405" y="2073473"/>
            <a:ext cx="6444972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8932" y="2943582"/>
            <a:ext cx="2855476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Add a Role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78932" y="3430905"/>
            <a:ext cx="600991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 who the AI should be (5 min)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904" y="1747242"/>
            <a:ext cx="6445091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41431" y="2617351"/>
            <a:ext cx="2855476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Add a Goal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641431" y="3104674"/>
            <a:ext cx="6010037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Specify what it should accomplish (5 min)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05" y="4540210"/>
            <a:ext cx="6444972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8932" y="5410319"/>
            <a:ext cx="2855476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Add Constraints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8932" y="5897642"/>
            <a:ext cx="600991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the rules and format (5 min)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3904" y="4213979"/>
            <a:ext cx="6445091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41431" y="5084088"/>
            <a:ext cx="2855476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Compare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641431" y="5571411"/>
            <a:ext cx="6010037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before/after results (5 min)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761405" y="6707862"/>
            <a:ext cx="13107591" cy="924282"/>
          </a:xfrm>
          <a:prstGeom prst="roundRect">
            <a:avLst>
              <a:gd name="adj" fmla="val 3531"/>
            </a:avLst>
          </a:prstGeom>
          <a:solidFill>
            <a:srgbClr val="FFCDB3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932" y="7033141"/>
            <a:ext cx="271939" cy="21752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68398" y="6979682"/>
            <a:ext cx="12183070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20 minutes |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Same data, completely different output quality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3783806"/>
            <a:ext cx="1159312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3851791"/>
            <a:ext cx="88713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MODULE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4300776"/>
            <a:ext cx="773846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Workflows &amp; Data Extraction</a:t>
            </a:r>
            <a:endParaRPr lang="en-US" sz="4650" dirty="0"/>
          </a:p>
        </p:txBody>
      </p:sp>
      <p:sp>
        <p:nvSpPr>
          <p:cNvPr id="6" name="Text 3"/>
          <p:cNvSpPr/>
          <p:nvPr/>
        </p:nvSpPr>
        <p:spPr>
          <a:xfrm>
            <a:off x="793790" y="53851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Scaled Focus Inc. | nirant@scaledfocus.com | +91 7737887058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6116631"/>
            <a:ext cx="13042821" cy="35957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133951" y="6662857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screenshots to structured data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6407706"/>
            <a:ext cx="30480" cy="873204"/>
          </a:xfrm>
          <a:prstGeom prst="rect">
            <a:avLst/>
          </a:prstGeom>
          <a:solidFill>
            <a:srgbClr val="E04F00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0441"/>
            <a:ext cx="657225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 Can Read Screenshots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93167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Old Way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530560"/>
            <a:ext cx="55648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Export to CSV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972758"/>
            <a:ext cx="55648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 data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14957"/>
            <a:ext cx="55648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parsing code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857155"/>
            <a:ext cx="55648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 edge cases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424130"/>
            <a:ext cx="55648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Hours of work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919674" y="293167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New Way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919674" y="3530560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Paste screenshot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919674" y="3972758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for JSON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919674" y="4539734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seconds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2462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Vision models can extract structured data from images of spreadsheets, dashboards, documents—any visual data source.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3433"/>
            <a:ext cx="613350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From Pixels to Pipeline</a:t>
            </a:r>
            <a:endParaRPr lang="en-US" sz="4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91320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12539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Screenshot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020604" y="3633549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data (image)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91320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12539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JSON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7542014" y="3633549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data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223266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35733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Analysis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1020604" y="5865495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Insights extracted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223266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35733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Email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7542014" y="5865495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Action delivered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671036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JSON is the bridge between unstructured inputs (screenshots, PDFs, emails) and structured processing (analysis, comparison, decisions). Once you have clean JSON, everything else is easy.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426" y="580430"/>
            <a:ext cx="5590818" cy="692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Define What You Want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38426" y="1694736"/>
            <a:ext cx="13153549" cy="5379601"/>
          </a:xfrm>
          <a:prstGeom prst="roundRect">
            <a:avLst>
              <a:gd name="adj" fmla="val 588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27948" y="1694736"/>
            <a:ext cx="13174504" cy="5379601"/>
          </a:xfrm>
          <a:prstGeom prst="roundRect">
            <a:avLst>
              <a:gd name="adj" fmla="val 58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38927" y="1852970"/>
            <a:ext cx="12752546" cy="5063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"client_name": "string",</a:t>
            </a:r>
            <a:endParaRPr lang="en-US" sz="16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"net_worth": "number",</a:t>
            </a:r>
            <a:endParaRPr lang="en-US" sz="16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"asset_classes": [</a:t>
            </a:r>
            <a:endParaRPr lang="en-US" sz="16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6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"string",</a:t>
            </a:r>
            <a:endParaRPr lang="en-US" sz="16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"current_value": "number",</a:t>
            </a:r>
            <a:endParaRPr lang="en-US" sz="16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"today_gain_pct": "number"</a:t>
            </a:r>
            <a:endParaRPr lang="en-US" sz="16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6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"worst_performer_today": {</a:t>
            </a:r>
            <a:endParaRPr lang="en-US" sz="16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"string",</a:t>
            </a:r>
            <a:endParaRPr lang="en-US" sz="16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"loss": "number"</a:t>
            </a:r>
            <a:endParaRPr lang="en-US" sz="16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6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8426" y="7311628"/>
            <a:ext cx="13153549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 specific. The AI follows your schema exactly. Clear structure in = clean data out.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54518"/>
            <a:ext cx="604956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Extraction Pattern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1133951" y="3194090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"This is a screenshot of [WHAT IT IS]. Extract the data as JSON: {YOUR SCHEMA HERE} [PASTE SCREENSHOT]"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2938939"/>
            <a:ext cx="30480" cy="1236107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443019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That's it. Schema in, data out. The simpler the pattern, the more reliably it works.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5411152"/>
            <a:ext cx="75564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5755243"/>
            <a:ext cx="283488" cy="2268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0906" y="5694640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 tip: Start with a simple schema. Add fields as needed.</a:t>
            </a:r>
            <a:endParaRPr lang="en-US" sz="1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289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Workflows vs Agents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470785"/>
            <a:ext cx="13042821" cy="3266837"/>
          </a:xfrm>
          <a:prstGeom prst="roundRect">
            <a:avLst>
              <a:gd name="adj" fmla="val 10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47840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62211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Aspect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637598" y="2622113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Workflow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848606" y="2622113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12872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27243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637598" y="3272433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define each step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848606" y="3272433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decides what to do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77904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3922752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Predictability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3637598" y="3922752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- same steps every time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848606" y="3922752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Variable - may take different paths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42936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4573072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Debugging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3637598" y="4573072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Easy - check each step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848606" y="4573072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 - "why did it do that?"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07968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5223391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3637598" y="5223391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Repeatable processes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848606" y="5223391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Open-ended exploration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93790" y="5992773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336863"/>
            <a:ext cx="283488" cy="22681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30906" y="6276261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production use cases: Start with workflows. Add agency only if needed.</a:t>
            </a:r>
            <a:endParaRPr lang="en-US" sz="1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1582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Workflow Pattern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379470"/>
            <a:ext cx="13042821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3379470"/>
            <a:ext cx="4347567" cy="1687592"/>
          </a:xfrm>
          <a:prstGeom prst="roundRect">
            <a:avLst>
              <a:gd name="adj" fmla="val 2016"/>
            </a:avLst>
          </a:prstGeom>
          <a:solidFill>
            <a:srgbClr val="4A90E2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60628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1: Extract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20604" y="4114443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 raw inputs into structured data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41357" y="3379470"/>
            <a:ext cx="4347567" cy="1687592"/>
          </a:xfrm>
          <a:prstGeom prst="rect">
            <a:avLst/>
          </a:prstGeom>
          <a:solidFill>
            <a:srgbClr val="5BA3E8"/>
          </a:solidFill>
          <a:ln/>
        </p:spPr>
      </p:sp>
      <p:sp>
        <p:nvSpPr>
          <p:cNvPr id="8" name="Shape 6"/>
          <p:cNvSpPr/>
          <p:nvPr/>
        </p:nvSpPr>
        <p:spPr>
          <a:xfrm>
            <a:off x="5141357" y="3379470"/>
            <a:ext cx="30480" cy="1687592"/>
          </a:xfrm>
          <a:prstGeom prst="roundRect">
            <a:avLst>
              <a:gd name="adj" fmla="val 111628"/>
            </a:avLst>
          </a:prstGeom>
          <a:solidFill>
            <a:srgbClr val="4189CE"/>
          </a:solidFill>
          <a:ln/>
        </p:spPr>
      </p:sp>
      <p:sp>
        <p:nvSpPr>
          <p:cNvPr id="9" name="Text 7"/>
          <p:cNvSpPr/>
          <p:nvPr/>
        </p:nvSpPr>
        <p:spPr>
          <a:xfrm>
            <a:off x="5368171" y="360628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2: Analyze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368171" y="4114443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insights from the data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488924" y="3379470"/>
            <a:ext cx="4347567" cy="1687592"/>
          </a:xfrm>
          <a:prstGeom prst="rect">
            <a:avLst/>
          </a:prstGeom>
          <a:solidFill>
            <a:srgbClr val="6CB6EE"/>
          </a:solidFill>
          <a:ln/>
        </p:spPr>
      </p:sp>
      <p:sp>
        <p:nvSpPr>
          <p:cNvPr id="12" name="Shape 10"/>
          <p:cNvSpPr/>
          <p:nvPr/>
        </p:nvSpPr>
        <p:spPr>
          <a:xfrm>
            <a:off x="9488924" y="3379470"/>
            <a:ext cx="30480" cy="1687592"/>
          </a:xfrm>
          <a:prstGeom prst="roundRect">
            <a:avLst>
              <a:gd name="adj" fmla="val 111628"/>
            </a:avLst>
          </a:prstGeom>
          <a:solidFill>
            <a:srgbClr val="529CD4"/>
          </a:solidFill>
          <a:ln/>
        </p:spPr>
      </p:sp>
      <p:sp>
        <p:nvSpPr>
          <p:cNvPr id="13" name="Text 11"/>
          <p:cNvSpPr/>
          <p:nvPr/>
        </p:nvSpPr>
        <p:spPr>
          <a:xfrm>
            <a:off x="9715738" y="360628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3: Generate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9715738" y="4114443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actionable output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32221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step is a separate prompt. Output of one feeds into the next. Why separate steps? Easier to debug, can verify intermediate results, reuse steps across workflows.</a:t>
            </a:r>
            <a:endParaRPr lang="en-US" sz="1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824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Chaining in Practice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31612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71173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84548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Extract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435363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"Extract portfolio data as JSON [SCREENSHOT]"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15533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JSON output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962" y="331612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671173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5216962" y="384548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Analyze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216962" y="435363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"Given this portfolio: [JSON FROM STEP 1] And this news: [NEWS SCREENSHOT] What's the risk?"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216962" y="5578435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Analysis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640133" y="331612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3671173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9640133" y="384548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Generate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9640133" y="435363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"Write an email to the client based on: [ANALYSIS FROM STEP 2]"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640133" y="5215533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Client communication</a:t>
            </a:r>
            <a:endParaRPr lang="en-US" sz="1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5803"/>
            <a:ext cx="706814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Single vs Chained Prompts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977039"/>
            <a:ext cx="319706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Single Prompt Problems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5759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Extraction errors hidden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181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Can't verify intermediate data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6031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 to debug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025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Inconsistent structure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977039"/>
            <a:ext cx="33199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Chained Prompt Benefits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599521" y="35759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Verify extraction before analysis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0181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Catch errors early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46031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 JSON structure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9025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Reusable components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599867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943957"/>
            <a:ext cx="283488" cy="22681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30906" y="5883354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Rule: If extraction fails, analysis is garbage. Always verify the data.</a:t>
            </a:r>
            <a:endParaRPr lang="en-US" sz="1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3411"/>
            <a:ext cx="732413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Combining Different Inputs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771299"/>
            <a:ext cx="13042821" cy="3266837"/>
          </a:xfrm>
          <a:prstGeom prst="roundRect">
            <a:avLst>
              <a:gd name="adj" fmla="val 10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77891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92262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Type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88988" y="2922627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848606" y="2922627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Extraction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42923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57294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Screenshot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288988" y="3572947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Portfolio dashboard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848606" y="3572947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Asset allocations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07955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422326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News image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288988" y="4223266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BBC headline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848606" y="4223266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 context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729877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487358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PDF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288988" y="4873585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 report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848606" y="4873585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findings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38019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552390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288988" y="5523905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 notes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848606" y="5523905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Preferences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62932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AI sees it all. You decide what to extract and how to combine the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805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When Extraction Fails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795945"/>
            <a:ext cx="13042821" cy="2616518"/>
          </a:xfrm>
          <a:prstGeom prst="roundRect">
            <a:avLst>
              <a:gd name="adj" fmla="val 130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80356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94727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88988" y="294727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Symptom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848606" y="2947273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45388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59759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 image quality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288988" y="359759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fields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848606" y="3597593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higher resolution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10420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424791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Complex layout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288988" y="4247912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Wrong data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848606" y="4247912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Simplify schema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75452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489823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Ambiguous labels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288988" y="4898231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Confused mapping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848606" y="4898231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 explicit in prompt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3790" y="5667613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011704"/>
            <a:ext cx="283488" cy="22681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30906" y="5951101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have backup JSON ready for exercises. Extraction isn't 100% reliable.</a:t>
            </a:r>
            <a:endParaRPr lang="en-US" sz="1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1087"/>
            <a:ext cx="667107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You're About To Do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22897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70347" y="3260884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30906" y="330684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Paste screenshot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530906" y="3815001"/>
            <a:ext cx="564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Portfolio dashboard image goes in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56884" y="322897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7533442" y="3260884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194000" y="330684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Get clean JSON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194000" y="3815001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data extracted in structured format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63153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870347" y="4663440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30906" y="47093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Add market news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530906" y="5217557"/>
            <a:ext cx="564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Second screenshot for context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56884" y="463153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533442" y="4663440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194000" y="47093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Get analysis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194000" y="5217557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Combined insights from both sources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58356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CSV export. No data cleaning. No code. Just paste → extract → analyze.</a:t>
            </a:r>
            <a:endParaRPr lang="en-US" sz="1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8412"/>
            <a:ext cx="847903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Exercise: Screenshot to Pipeline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456742"/>
            <a:ext cx="4196358" cy="1975366"/>
          </a:xfrm>
          <a:prstGeom prst="roundRect">
            <a:avLst>
              <a:gd name="adj" fmla="val 172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3487222"/>
            <a:ext cx="4135398" cy="22681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1051084" y="394085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Extract Portfolio Data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51084" y="444900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clean JSON from dashboard (10 min)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116461"/>
            <a:ext cx="4196358" cy="2315647"/>
          </a:xfrm>
          <a:prstGeom prst="roundRect">
            <a:avLst>
              <a:gd name="adj" fmla="val 146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47442" y="3146941"/>
            <a:ext cx="4135398" cy="22681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5474256" y="360056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Add Market Context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474256" y="410872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 with news for analysis (10 min)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776299"/>
            <a:ext cx="4196358" cy="2655808"/>
          </a:xfrm>
          <a:prstGeom prst="roundRect">
            <a:avLst>
              <a:gd name="adj" fmla="val 128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70613" y="2806779"/>
            <a:ext cx="4135398" cy="22681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9897427" y="326040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Reflect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9897427" y="376856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the pattern (5 min)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687258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031349"/>
            <a:ext cx="283488" cy="22681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0906" y="5970746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25 minutes |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"I just built a data pipeline with screenshots."</a:t>
            </a:r>
            <a:endParaRPr lang="en-US" sz="1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366248"/>
            <a:ext cx="1162050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2434233"/>
            <a:ext cx="889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MODULE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88321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Systematizing AI</a:t>
            </a:r>
            <a:endParaRPr lang="en-US" sz="4650" dirty="0"/>
          </a:p>
        </p:txBody>
      </p:sp>
      <p:sp>
        <p:nvSpPr>
          <p:cNvPr id="6" name="Text 3"/>
          <p:cNvSpPr/>
          <p:nvPr/>
        </p:nvSpPr>
        <p:spPr>
          <a:xfrm>
            <a:off x="793790" y="396763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Scaled Focus Inc. | nirant@scaledfocus.com | +91 7737887058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699073"/>
            <a:ext cx="7556421" cy="35957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133951" y="5245298"/>
            <a:ext cx="72162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"it worked once" to "it works every time"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4990148"/>
            <a:ext cx="30480" cy="873204"/>
          </a:xfrm>
          <a:prstGeom prst="rect">
            <a:avLst/>
          </a:prstGeom>
          <a:solidFill>
            <a:srgbClr val="E04F00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8571"/>
            <a:ext cx="891242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Prompts → Templates → Systems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096458"/>
            <a:ext cx="13042821" cy="2616518"/>
          </a:xfrm>
          <a:prstGeom prst="roundRect">
            <a:avLst>
              <a:gd name="adj" fmla="val 130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10407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3247787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Level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3247787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It Is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151388" y="3247787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Reliability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75439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898106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Prompt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940379" y="3898106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One-off instruction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151388" y="3898106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sometimes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40471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4548426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Template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940379" y="4548426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Reusable with variables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151388" y="4548426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consistently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055037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5198745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40379" y="5198745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pipeline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151388" y="5198745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at scale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93790" y="59681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Goal: Turn your working prompts into templates anyone can use. This is how expertise becomes infrastructure.</a:t>
            </a:r>
            <a:endParaRPr lang="en-US" sz="1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6631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Identifying Variables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27755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CHANGES?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8764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{{CLIENT_NAME}}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186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{{PORTFOLIO_IMAGE}}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608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{{RISK_PROFILE}}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030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{{RM_NAME}}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277553"/>
            <a:ext cx="328541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STAYS THE SAME?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599521" y="38764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JSON schema structure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3186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 questions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7608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 format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9003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Variables are placeholders for the parts that differ between runs. Everything else gets locked into the template.</a:t>
            </a:r>
            <a:endParaRPr lang="en-US" sz="1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480" y="552212"/>
            <a:ext cx="5257919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 Complete Template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980480" y="1609963"/>
            <a:ext cx="12669322" cy="6067425"/>
          </a:xfrm>
          <a:prstGeom prst="roundRect">
            <a:avLst>
              <a:gd name="adj" fmla="val 495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970478" y="1609963"/>
            <a:ext cx="12689324" cy="6067425"/>
          </a:xfrm>
          <a:prstGeom prst="roundRect">
            <a:avLst>
              <a:gd name="adj" fmla="val 495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170742" y="1760101"/>
            <a:ext cx="12288798" cy="576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=== CLIENT PORTFOLIO ANALYZER v1.0 ===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INPUTS: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Client: {{CLIENT_NAME}}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Risk Profile: {{RISK_PROFILE}}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RM: {{RM_NAME}}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=== STEP 1: EXTRACT ===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[Fixed extraction prompt]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[INSERT {{PORTFOLIO_IMAGE}}]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=== STEP 2: ANALYZE ===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[Fixed analysis prompt]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 risk profile: {{RISK_PROFILE}}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=== STEP 3: GENERATE ===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Write email to {{CLIENT_NAME}}...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Sign as {{RM_NAME}}</a:t>
            </a:r>
            <a:endParaRPr lang="en-US" sz="15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1045" y="582216"/>
            <a:ext cx="5794534" cy="69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Templates Enable Scale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303770" y="1700332"/>
            <a:ext cx="22860" cy="5371862"/>
          </a:xfrm>
          <a:prstGeom prst="roundRect">
            <a:avLst>
              <a:gd name="adj" fmla="val 138932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718185" y="1700332"/>
            <a:ext cx="6574155" cy="2474238"/>
          </a:xfrm>
          <a:prstGeom prst="roundRect">
            <a:avLst>
              <a:gd name="adj" fmla="val 1284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4301728" y="1912025"/>
            <a:ext cx="2778919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Without Templates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929878" y="2386251"/>
            <a:ext cx="6150769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Rewrite prompt each time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29878" y="2798921"/>
            <a:ext cx="6150769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Inconsistent quality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29878" y="3211592"/>
            <a:ext cx="6150769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Knowledge in one person's head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29878" y="3624263"/>
            <a:ext cx="6150769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Can't delegate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338060" y="4597956"/>
            <a:ext cx="6574155" cy="247423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7549753" y="4809649"/>
            <a:ext cx="2778919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With Templates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549753" y="5283875"/>
            <a:ext cx="6150769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Fill in variables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549753" y="5696545"/>
            <a:ext cx="6150769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 output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549753" y="6109216"/>
            <a:ext cx="6150769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Documented process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549753" y="6521887"/>
            <a:ext cx="6150769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Anyone can run it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41045" y="7310318"/>
            <a:ext cx="13148310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Templates turn expertise into infrastructure.</a:t>
            </a:r>
            <a:endParaRPr lang="en-US" sz="1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21" y="551974"/>
            <a:ext cx="5266611" cy="658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Automation Path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3349466" y="1611392"/>
            <a:ext cx="1586151" cy="1171813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4001453" y="2020967"/>
            <a:ext cx="282059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136237" y="1812012"/>
            <a:ext cx="2534960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Manual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136237" y="2261592"/>
            <a:ext cx="2534960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paste, you run, you edit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35868" y="2773680"/>
            <a:ext cx="8524042" cy="11430"/>
          </a:xfrm>
          <a:prstGeom prst="roundRect">
            <a:avLst>
              <a:gd name="adj" fmla="val 263299"/>
            </a:avLst>
          </a:prstGeom>
          <a:solidFill>
            <a:srgbClr val="D8D4D4"/>
          </a:solidFill>
          <a:ln/>
        </p:spPr>
      </p:sp>
      <p:sp>
        <p:nvSpPr>
          <p:cNvPr id="8" name="Shape 6"/>
          <p:cNvSpPr/>
          <p:nvPr/>
        </p:nvSpPr>
        <p:spPr>
          <a:xfrm>
            <a:off x="2556272" y="2883456"/>
            <a:ext cx="3172420" cy="1171813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4001453" y="3293031"/>
            <a:ext cx="282059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29313" y="3084076"/>
            <a:ext cx="263330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Template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5929313" y="3533656"/>
            <a:ext cx="2752725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fill variables, run template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828943" y="4045744"/>
            <a:ext cx="7730966" cy="11430"/>
          </a:xfrm>
          <a:prstGeom prst="roundRect">
            <a:avLst>
              <a:gd name="adj" fmla="val 263299"/>
            </a:avLst>
          </a:prstGeom>
          <a:solidFill>
            <a:srgbClr val="D8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1763197" y="4155519"/>
            <a:ext cx="4758690" cy="1171813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4001453" y="4565094"/>
            <a:ext cx="282059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22507" y="4356140"/>
            <a:ext cx="263330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Semi-auto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6722507" y="4805720"/>
            <a:ext cx="3001328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 fills variables, you review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622137" y="5317808"/>
            <a:ext cx="6937772" cy="11430"/>
          </a:xfrm>
          <a:prstGeom prst="roundRect">
            <a:avLst>
              <a:gd name="adj" fmla="val 263299"/>
            </a:avLst>
          </a:prstGeom>
          <a:solidFill>
            <a:srgbClr val="D8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970121" y="5427583"/>
            <a:ext cx="6344960" cy="1171813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4001572" y="5837158"/>
            <a:ext cx="282059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15701" y="5628203"/>
            <a:ext cx="263330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Full auto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7515701" y="6077783"/>
            <a:ext cx="2738318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 runs, flags exceptions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970121" y="6825020"/>
            <a:ext cx="12690038" cy="852488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742" y="7128748"/>
            <a:ext cx="250746" cy="2006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622108" y="7075765"/>
            <a:ext cx="11837432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Today: We're building the template layer. Tomorrow: We'll discuss productization.</a:t>
            </a:r>
            <a:endParaRPr lang="en-US" sz="15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2084"/>
            <a:ext cx="703599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Exercise: Make It Reusable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629972"/>
            <a:ext cx="907256" cy="1360884"/>
          </a:xfrm>
          <a:prstGeom prst="roundRect">
            <a:avLst>
              <a:gd name="adj" fmla="val 360022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077278" y="309776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927860" y="285678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Identify Variables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927860" y="3364944"/>
            <a:ext cx="1190875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changes vs stays the same (5 min)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4217670"/>
            <a:ext cx="907256" cy="1360884"/>
          </a:xfrm>
          <a:prstGeom prst="roundRect">
            <a:avLst>
              <a:gd name="adj" fmla="val 360022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1077278" y="468546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1927860" y="444448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Build Template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927860" y="4952643"/>
            <a:ext cx="1190875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reusable structure with variables (10 min)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833705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177796"/>
            <a:ext cx="283488" cy="22681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30906" y="6117193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15 minutes |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"I just built a system, not just a prompt."</a:t>
            </a:r>
            <a:endParaRPr lang="en-US" sz="1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9090"/>
            <a:ext cx="646271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You've Built Today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486978"/>
            <a:ext cx="13042821" cy="2616518"/>
          </a:xfrm>
          <a:prstGeom prst="roundRect">
            <a:avLst>
              <a:gd name="adj" fmla="val 130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49459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638306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637598" y="2638306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5824" y="263830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Can Now...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144917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288625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637598" y="3288625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RGC/STIC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45824" y="328862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precise, effective prompts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79523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3938945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3637598" y="3938945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Extraction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45824" y="393894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 screenshots into structured data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445556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458926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3637598" y="4589264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Templates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45824" y="458926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Make workflows reusable at scale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93790" y="53586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Capstone: Combine all three into one end-to-end system.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5976699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320790"/>
            <a:ext cx="283488" cy="22681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30906" y="6260187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15-minute break, then we put it all together.</a:t>
            </a:r>
            <a:endParaRPr lang="en-US" sz="1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2366248"/>
            <a:ext cx="1190149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4" name="Text 1"/>
          <p:cNvSpPr/>
          <p:nvPr/>
        </p:nvSpPr>
        <p:spPr>
          <a:xfrm>
            <a:off x="6416278" y="2434233"/>
            <a:ext cx="91797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CAPSTONE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288321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Build Your AI Analyst</a:t>
            </a:r>
            <a:endParaRPr lang="en-US" sz="4650" dirty="0"/>
          </a:p>
        </p:txBody>
      </p:sp>
      <p:sp>
        <p:nvSpPr>
          <p:cNvPr id="6" name="Text 3"/>
          <p:cNvSpPr/>
          <p:nvPr/>
        </p:nvSpPr>
        <p:spPr>
          <a:xfrm>
            <a:off x="6280190" y="396763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Scaled Focus Inc. | nirant@scaledfocus.com | +91 7737887058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699073"/>
            <a:ext cx="7556421" cy="35957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620351" y="5245298"/>
            <a:ext cx="72162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 minutes to client-ready output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280190" y="4990148"/>
            <a:ext cx="30480" cy="873204"/>
          </a:xfrm>
          <a:prstGeom prst="rect">
            <a:avLst/>
          </a:prstGeom>
          <a:solidFill>
            <a:srgbClr val="E04F00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580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Your Final Challenge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97703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5759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Portfolio screenshot (Mehta Family, ₹41 crore)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181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 news (Venezuela oil headline)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97703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 Requirements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599521" y="35759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Client-ready email for Mr. Rajesh Mehta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0181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Conservative investor, anxious about volatility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46031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Reassuring tone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9025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next steps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599867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943957"/>
            <a:ext cx="283488" cy="22681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30906" y="5883354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60 minutes, 3 rounds</a:t>
            </a:r>
            <a:endParaRPr lang="en-US" sz="1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289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Capstone Structure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470785"/>
            <a:ext cx="13042821" cy="3266837"/>
          </a:xfrm>
          <a:prstGeom prst="roundRect">
            <a:avLst>
              <a:gd name="adj" fmla="val 10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47840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462" y="2622113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Round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986326" y="2622113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940379" y="262211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499997" y="262211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12872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462" y="3272433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2986326" y="3272433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940379" y="327243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Basic extraction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499997" y="327243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"It read my data!"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377904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462" y="3922752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2986326" y="3922752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940379" y="3922752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structure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499997" y="3922752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"This is usable!"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442936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462" y="4573072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2986326" y="4573072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940379" y="4573072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personalization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499997" y="4573072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 could send this!"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07968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8462" y="5223391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2986326" y="5223391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4940379" y="5223391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 visual version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9499997" y="5223391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"Wow, what's possible"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793790" y="5992773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336863"/>
            <a:ext cx="283488" cy="22681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530906" y="6276261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Remember: Working &gt; Perfect. Get something running, then improve.</a:t>
            </a:r>
            <a:endParaRPr lang="en-US" sz="1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58215"/>
            <a:ext cx="681513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Round 1: Basic Extraction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2042636"/>
            <a:ext cx="7556421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10670" y="2073116"/>
            <a:ext cx="907256" cy="132468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6594158" y="252281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444740" y="2299930"/>
            <a:ext cx="348662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Paste Portfolio Screenshot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444740" y="2808089"/>
            <a:ext cx="61345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Mehta Family dashboard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280190" y="3655100"/>
            <a:ext cx="7556421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10670" y="3685580"/>
            <a:ext cx="907256" cy="132468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6594158" y="413527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7444740" y="391239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Define JSON Schema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7444740" y="4420553"/>
            <a:ext cx="61345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fields do you need?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80190" y="5267563"/>
            <a:ext cx="7556421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10670" y="5298043"/>
            <a:ext cx="907256" cy="132468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6594158" y="574774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4"/>
          <p:cNvSpPr/>
          <p:nvPr/>
        </p:nvSpPr>
        <p:spPr>
          <a:xfrm>
            <a:off x="7444740" y="552485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Extract &amp; Verify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7444740" y="6033016"/>
            <a:ext cx="61345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that data looks correct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6280190" y="690836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Focus: Get clean data first. Everything else builds on this.</a:t>
            </a:r>
            <a:endParaRPr lang="en-US" sz="1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8512"/>
            <a:ext cx="92332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Round 2: Add Structure &amp; Analysis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4404717"/>
            <a:ext cx="13042821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3301960" y="3724275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3062049" y="41495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3138607" y="4181475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681" y="262640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Portfolio Data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20604" y="3134558"/>
            <a:ext cx="459331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JSON from Round 1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967293" y="4404717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5727382" y="41495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5803940" y="4181475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94014" y="531197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Market Context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685818" y="5820132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news screenshot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632508" y="3724275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2597" y="41495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8469154" y="4181475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159228" y="262640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Risk Analysis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351032" y="3134558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 both for insights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11297841" y="4404717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57930" y="41495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11134487" y="4181475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824561" y="531197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Draft Email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016365" y="5820132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 analysis into communication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64381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Focus: Chain the steps. Verify each before moving to the next.</a:t>
            </a:r>
            <a:endParaRPr lang="en-US" sz="1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7713"/>
            <a:ext cx="910113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Round 3: Personalization &amp; Polish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905601"/>
            <a:ext cx="6407944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16289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Client Context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51084" y="3671054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Conservative, 65, anxious about volatility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905601"/>
            <a:ext cx="6408063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316289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Tone Adjustment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685842" y="3671054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Reassuring, clear, action-oriented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518065"/>
            <a:ext cx="6407944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477535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Next Steps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51084" y="5283518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Specific recommendations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518065"/>
            <a:ext cx="6408063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842" y="477535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Final Review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685842" y="5283518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Would you send this?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1588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Focus: Make it client-ready. This is the output that matters.</a:t>
            </a:r>
            <a:endParaRPr lang="en-US" sz="1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988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Day 1 Complete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2077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Scaled Focus Inc. for Kotak Securities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939210"/>
            <a:ext cx="13042821" cy="35957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45709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You Built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40559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Prompts that work consistently (RGC/STIC)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49818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extraction from screenshots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94037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reusable AI analyst template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45709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Tomorrow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599521" y="40559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architecture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49818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Performance metrics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94037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Impact Memo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637728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981819"/>
            <a:ext cx="283488" cy="22681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30906" y="5921216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 your prompts. You'll use them tomorrow.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93790" y="68566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nirant@scaledfocus.com | +91 7737887058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2026-01-07T13:07:19Z</dcterms:created>
  <dcterms:modified xsi:type="dcterms:W3CDTF">2026-01-07T13:07:19Z</dcterms:modified>
</cp:coreProperties>
</file>