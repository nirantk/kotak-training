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4630400" cy="8229600"/>
  <p:notesSz cx="8229600" cy="14630400"/>
  <p:embeddedFontLst>
    <p:embeddedFont>
      <p:font typeface="PT Serif"/>
      <p:regular r:id="rId37"/>
    </p:embeddedFont>
    <p:embeddedFont>
      <p:font typeface="PT Serif"/>
      <p:regular r:id="rId38"/>
    </p:embeddedFont>
    <p:embeddedFont>
      <p:font typeface="PT Serif"/>
      <p:regular r:id="rId39"/>
    </p:embeddedFont>
    <p:embeddedFont>
      <p:font typeface="PT Serif"/>
      <p:regular r:id="rId40"/>
    </p:embeddedFont>
    <p:embeddedFont>
      <p:font typeface="DM Sans"/>
      <p:regular r:id="rId41"/>
    </p:embeddedFont>
    <p:embeddedFont>
      <p:font typeface="DM Sans"/>
      <p:regular r:id="rId42"/>
    </p:embeddedFont>
    <p:embeddedFont>
      <p:font typeface="DM Sans"/>
      <p:regular r:id="rId43"/>
    </p:embeddedFont>
    <p:embeddedFont>
      <p:font typeface="DM Sans"/>
      <p:regular r:id="rId4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Relationship Id="rId39" Type="http://schemas.openxmlformats.org/officeDocument/2006/relationships/font" Target="fonts/font3.fntdata"/><Relationship Id="rId40" Type="http://schemas.openxmlformats.org/officeDocument/2006/relationships/font" Target="fonts/font4.fntdata"/><Relationship Id="rId41" Type="http://schemas.openxmlformats.org/officeDocument/2006/relationships/font" Target="fonts/font5.fntdata"/><Relationship Id="rId42" Type="http://schemas.openxmlformats.org/officeDocument/2006/relationships/font" Target="fonts/font6.fntdata"/><Relationship Id="rId43" Type="http://schemas.openxmlformats.org/officeDocument/2006/relationships/font" Target="fonts/font7.fntdata"/><Relationship Id="rId4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slideLayout" Target="../slideLayouts/slideLayout14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image" Target="../media/image-16-6.png"/><Relationship Id="rId7" Type="http://schemas.openxmlformats.org/officeDocument/2006/relationships/image" Target="../media/image-16-7.svg"/><Relationship Id="rId8" Type="http://schemas.openxmlformats.org/officeDocument/2006/relationships/image" Target="../media/image-16-8.png"/><Relationship Id="rId9" Type="http://schemas.openxmlformats.org/officeDocument/2006/relationships/image" Target="../media/image-16-9.svg"/><Relationship Id="rId10" Type="http://schemas.openxmlformats.org/officeDocument/2006/relationships/slideLayout" Target="../slideLayouts/slideLayout17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34345"/>
            <a:ext cx="97536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Day 2: From Prototype to Production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5322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Product Accelerator - Day 2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8929"/>
            <a:ext cx="13042821" cy="297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0"/>
              </a:lnSpc>
              <a:buNone/>
            </a:pPr>
            <a:r>
              <a:rPr lang="en-US" sz="9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Yesterday you built it. Today you ship it.</a:t>
            </a:r>
            <a:endParaRPr lang="en-US" sz="9350" dirty="0"/>
          </a:p>
        </p:txBody>
      </p:sp>
      <p:sp>
        <p:nvSpPr>
          <p:cNvPr id="3" name="Text 1"/>
          <p:cNvSpPr/>
          <p:nvPr/>
        </p:nvSpPr>
        <p:spPr>
          <a:xfrm>
            <a:off x="793790" y="53395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1: "Does the prompt work?"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9576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2: "Should we build this? How? When?"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608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Schedule Overview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223974"/>
            <a:ext cx="13042821" cy="2979420"/>
          </a:xfrm>
          <a:prstGeom prst="roundRect">
            <a:avLst>
              <a:gd name="adj" fmla="val 11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231594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337530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337530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337530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881914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402562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10:05-11:45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402562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 1: Agent Design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4025622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Prioritization + Patterns + Failure Modes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895136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503884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1:30-2:30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503884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 2: Agent Infrastructure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503884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Skills + Build vs Buy + Observability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545455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56891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2:30-3:30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568916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 3: Ship It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56891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Metrics + Roadmap + Presentations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9082"/>
            <a:ext cx="13042821" cy="2232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0"/>
              </a:lnSpc>
              <a:buNone/>
            </a:pPr>
            <a:r>
              <a:rPr lang="en-US" sz="1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1</a:t>
            </a:r>
            <a:endParaRPr lang="en-US" sz="14050" dirty="0"/>
          </a:p>
        </p:txBody>
      </p:sp>
      <p:sp>
        <p:nvSpPr>
          <p:cNvPr id="3" name="Text 1"/>
          <p:cNvSpPr/>
          <p:nvPr/>
        </p:nvSpPr>
        <p:spPr>
          <a:xfrm>
            <a:off x="793790" y="4752023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Agent Design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56876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Teaching: 25 min | Lab: 75 min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1721"/>
            <a:ext cx="743069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Brainstorm to Backlog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5396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have 10 ideas from Day 1.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576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 only build 1 this quarter.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60727"/>
            <a:ext cx="8216741" cy="1027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50"/>
              </a:lnSpc>
              <a:buNone/>
            </a:pPr>
            <a:r>
              <a:rPr lang="en-US" sz="6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do you choose?</a:t>
            </a:r>
            <a:endParaRPr lang="en-US" sz="6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1576" y="533281"/>
            <a:ext cx="5091113" cy="636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Impact/Effort Matrix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576" y="1557457"/>
            <a:ext cx="12267248" cy="6139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6778" y="4360569"/>
            <a:ext cx="2303918" cy="36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 EFFORT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870273" y="7165789"/>
            <a:ext cx="2895216" cy="36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 IMPACT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77448" y="4360569"/>
            <a:ext cx="2303918" cy="36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EFFORT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63379" y="1800831"/>
            <a:ext cx="2895215" cy="36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IMPACT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19126" y="5947768"/>
            <a:ext cx="2365192" cy="27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Money Pit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8156" y="5067332"/>
            <a:ext cx="343137" cy="3431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6670" y="5960023"/>
            <a:ext cx="2365192" cy="27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Later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7698" y="5074607"/>
            <a:ext cx="343136" cy="3431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66670" y="3692870"/>
            <a:ext cx="2365192" cy="27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Bets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77698" y="2807455"/>
            <a:ext cx="343136" cy="3431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45597" y="3692870"/>
            <a:ext cx="2365192" cy="27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 Wins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56625" y="2807455"/>
            <a:ext cx="343137" cy="343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425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Scoring Criteria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1862138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869758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2013466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Criterion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2013466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2013466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to Ask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520077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266378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Impact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266378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1-5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266378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much time/money saved?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170396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331410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Effort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331410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1-5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331410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 weeks? Integration complexity?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3820716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396442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Risk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396442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H/M/L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396442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Regulatory exposure?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471035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461474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Sensitivity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461474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H/M/L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461474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PII? Financial data?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121354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9653" y="52650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Time-to-Value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375077" y="526506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Fast/Slow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16691" y="52650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do users see benefit?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93790" y="6034445"/>
            <a:ext cx="13042821" cy="1530787"/>
          </a:xfrm>
          <a:prstGeom prst="roundRect">
            <a:avLst>
              <a:gd name="adj" fmla="val 2223"/>
            </a:avLst>
          </a:prstGeom>
          <a:solidFill>
            <a:srgbClr val="FFCDB3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378535"/>
            <a:ext cx="283488" cy="22681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30906" y="631793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= Impact × (6 - Effort) × Risk Multiplier</a:t>
            </a:r>
            <a:endParaRPr lang="en-US" sz="1750" dirty="0"/>
          </a:p>
        </p:txBody>
      </p:sp>
      <p:sp>
        <p:nvSpPr>
          <p:cNvPr id="31" name="Text 28"/>
          <p:cNvSpPr/>
          <p:nvPr/>
        </p:nvSpPr>
        <p:spPr>
          <a:xfrm>
            <a:off x="1530906" y="688490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Multiplier: H=0.5, M=0.8, L=1.0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737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an Agent?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021800"/>
            <a:ext cx="13042821" cy="205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50"/>
              </a:lnSpc>
              <a:buNone/>
            </a:pPr>
            <a:r>
              <a:rPr lang="en-US" sz="6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Agent = LLM + Tools + Memory + Control Flow</a:t>
            </a:r>
            <a:endParaRPr lang="en-US" sz="6450" dirty="0"/>
          </a:p>
        </p:txBody>
      </p:sp>
      <p:sp>
        <p:nvSpPr>
          <p:cNvPr id="4" name="Shape 2"/>
          <p:cNvSpPr/>
          <p:nvPr/>
        </p:nvSpPr>
        <p:spPr>
          <a:xfrm>
            <a:off x="793790" y="4416028"/>
            <a:ext cx="6407944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6428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LLM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515100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reasoning engine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4416028"/>
            <a:ext cx="6408063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655362" y="46428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Tools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55362" y="515100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APIs, databases, functions it can call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967532"/>
            <a:ext cx="6407944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61943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Memory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20604" y="670250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 it retains across turns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967532"/>
            <a:ext cx="6408063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655362" y="61943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Control Flow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655362" y="670250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Logic that decides what happens next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6800"/>
            <a:ext cx="66609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4 Canonical Patterns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6407944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47198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Router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51084" y="398014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Classify → Route to Specialist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214688"/>
            <a:ext cx="6408063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47198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Chain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85842" y="398014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1 → Step 2 → Step 3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27151"/>
            <a:ext cx="6407944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844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Orchestrator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51084" y="5592604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Planner + Sub-agents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27151"/>
            <a:ext cx="6408063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0844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Human-in-the-Loop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85842" y="5592604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 Easy, Escalate Hard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477202"/>
            <a:ext cx="4553783" cy="56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Pattern 1: Router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828800" y="1115735"/>
            <a:ext cx="3622358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Classify → Route to Specialist</a:t>
            </a:r>
            <a:endParaRPr lang="en-US" sz="2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976" y="1717358"/>
            <a:ext cx="7400330" cy="55623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37334" y="4367213"/>
            <a:ext cx="1349608" cy="6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Router Classify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56260" y="5639842"/>
            <a:ext cx="2007783" cy="6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Agent B (Support)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56260" y="6375681"/>
            <a:ext cx="2007783" cy="493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Resolves technical issues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49090" y="5801857"/>
            <a:ext cx="2007782" cy="324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Agent C (Billing)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49090" y="6213666"/>
            <a:ext cx="2007782" cy="493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Manages billing requests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75244" y="2153525"/>
            <a:ext cx="2062645" cy="324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Agent A (Sales)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75244" y="2565334"/>
            <a:ext cx="2062645" cy="493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sales inquiries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828800" y="7474863"/>
            <a:ext cx="10972681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when: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Clear categories, different expertise needed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451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Pattern 2: Chain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709499"/>
            <a:ext cx="4010501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 → Step 2 → Step 3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920" y="2496264"/>
            <a:ext cx="11714440" cy="42406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7850" y="5692600"/>
            <a:ext cx="3081311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Generate 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317850" y="4414427"/>
            <a:ext cx="3081311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Analyze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317850" y="3123211"/>
            <a:ext cx="3081311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Extract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3790" y="69920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when: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Sequential processing, each step builds on previous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2204" y="510659"/>
            <a:ext cx="5044559" cy="609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Pattern 3: Orchestrator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442204" y="1194078"/>
            <a:ext cx="2924889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Planner + Sub-agents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204" y="1838206"/>
            <a:ext cx="11745992" cy="53755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46219" y="2511405"/>
            <a:ext cx="2728279" cy="34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Combine Results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46219" y="2944826"/>
            <a:ext cx="2863971" cy="519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 outputs and finalize solution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19916" y="4278290"/>
            <a:ext cx="2633006" cy="34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Worker Agents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19916" y="4711711"/>
            <a:ext cx="2633006" cy="519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 1, Worker 2, Worker 3 execute tasks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046219" y="5190604"/>
            <a:ext cx="2728279" cy="34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46219" y="5624025"/>
            <a:ext cx="2863971" cy="519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Planner coordinates tasks and strategy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442204" y="7422594"/>
            <a:ext cx="1174599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when: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Complex tasks, parallel execution possible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2176" y="448270"/>
            <a:ext cx="5883593" cy="533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Pattern 4: Human-in-the-Loop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2172176" y="1046798"/>
            <a:ext cx="281082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 Easy, Escalate Hard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448" y="1610678"/>
            <a:ext cx="10121384" cy="5727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86161" y="2329212"/>
            <a:ext cx="2430024" cy="30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Request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86161" y="2715251"/>
            <a:ext cx="3548606" cy="231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user input or task request.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46" y="2328569"/>
            <a:ext cx="308574" cy="30857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6250" y="3460009"/>
            <a:ext cx="308575" cy="30857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13935" y="3459205"/>
            <a:ext cx="2430023" cy="30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Confidence Check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2495353" y="3845245"/>
            <a:ext cx="3548605" cy="46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model certainty against thresholds.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586161" y="4592091"/>
            <a:ext cx="2430024" cy="30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Confidence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586161" y="4978131"/>
            <a:ext cx="3548606" cy="462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 Complete the request automatically.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4546" y="4591448"/>
            <a:ext cx="308574" cy="3085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15543" y="5723530"/>
            <a:ext cx="2430023" cy="30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 Confidence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2496960" y="6109570"/>
            <a:ext cx="3548605" cy="231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 to Human Review for verification.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6250" y="5722887"/>
            <a:ext cx="308575" cy="3085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72176" y="7521178"/>
            <a:ext cx="10285928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when: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High stakes, regulatory requirements, trust building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7778"/>
            <a:ext cx="79063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Which Pattern for Enterprise?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539014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Usually #4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40763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Human-in-the-Loop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46752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Regulatory compliance requires human oversight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174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 trust takes time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596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"AI-assisted" beats "AI-replaced" for adoption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39014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Sometimes #1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599521" y="40763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Router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99521" y="46752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intent classification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1174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 workflows per category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5596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Enables incremental automation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8723"/>
            <a:ext cx="634007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State Machine Anatomy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406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agent has these components: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4664"/>
            <a:ext cx="6407944" cy="1884640"/>
          </a:xfrm>
          <a:prstGeom prst="roundRect">
            <a:avLst>
              <a:gd name="adj" fmla="val 776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024664"/>
            <a:ext cx="121920" cy="188464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2819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TRIGGER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2524" y="3790117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call / Schedule / User action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4664"/>
            <a:ext cx="6408063" cy="1884640"/>
          </a:xfrm>
          <a:prstGeom prst="roundRect">
            <a:avLst>
              <a:gd name="adj" fmla="val 776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024664"/>
            <a:ext cx="121920" cy="188464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2819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DECISION POINTS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7282" y="3790117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confidence &lt; 80% → escalate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77282" y="428910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amount &gt; $10K → require approval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136118"/>
            <a:ext cx="6407944" cy="1884640"/>
          </a:xfrm>
          <a:prstGeom prst="roundRect">
            <a:avLst>
              <a:gd name="adj" fmla="val 776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5136118"/>
            <a:ext cx="121920" cy="188464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39341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GUARDRAILS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142524" y="5901571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 if PII detected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42524" y="6400562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Reject if off-topic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136118"/>
            <a:ext cx="6408063" cy="1884640"/>
          </a:xfrm>
          <a:prstGeom prst="roundRect">
            <a:avLst>
              <a:gd name="adj" fmla="val 776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8067" y="5136118"/>
            <a:ext cx="121920" cy="188464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7282" y="5393412"/>
            <a:ext cx="319230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HUMAN CHECKPOINTS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777282" y="5901571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review before send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777282" y="640056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Override capability always on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1437" y="547211"/>
            <a:ext cx="8727638" cy="653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Example: Document Validation Agent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17" y="1598176"/>
            <a:ext cx="12384048" cy="6087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82950" y="2124652"/>
            <a:ext cx="2973727" cy="371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Decision Outcome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82950" y="2597066"/>
            <a:ext cx="5727179" cy="283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 → Auto Approve; Invalid → Human Review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4332" y="2301070"/>
            <a:ext cx="402790" cy="4027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82950" y="3547007"/>
            <a:ext cx="2973727" cy="371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Validate Format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182950" y="4019421"/>
            <a:ext cx="5727179" cy="283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completeness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4332" y="3534616"/>
            <a:ext cx="402790" cy="4027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2950" y="4969361"/>
            <a:ext cx="2973727" cy="371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Extract Fields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182950" y="5441775"/>
            <a:ext cx="5727179" cy="283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Name, ID, Date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4332" y="4755575"/>
            <a:ext cx="402790" cy="4027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95538" y="6391715"/>
            <a:ext cx="2973727" cy="371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Document Upload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195538" y="6864129"/>
            <a:ext cx="5727179" cy="283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Trigger: submit file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4332" y="6177930"/>
            <a:ext cx="402790" cy="4027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2174"/>
            <a:ext cx="798075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Pre-Mortem: Assume It Failed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133951" y="360521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building, imagine it's 6 months from now.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4223266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agent has been shut down.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33951" y="484131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went wrong?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350062"/>
            <a:ext cx="30480" cy="2109311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57145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mindset shift catches failures you'd otherwise miss.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9476"/>
            <a:ext cx="898207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Common Failure Mode Categories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717363"/>
            <a:ext cx="13042821" cy="3992642"/>
          </a:xfrm>
          <a:prstGeom prst="roundRect">
            <a:avLst>
              <a:gd name="adj" fmla="val 8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24983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286869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286869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286869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Happens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375303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351901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Hallucinated Identifiers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351901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Wrong account number, fake ticker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3519011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generates plausible-looking data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388525"/>
            <a:ext cx="1302627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453223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Missed Validation Flags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453223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issue not caught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4532233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data didn't cover edge cases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401747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554545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Latency Spikes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554545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 during peak hours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554545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rate limits, cold starts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052066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619577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 Injection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619577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tricks agent into wrong action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619577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Adversarial input not filtered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4042"/>
            <a:ext cx="665678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Lab 1: Design Your Agent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99028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75 minutes total</a:t>
            </a:r>
            <a:endParaRPr lang="en-US" sz="3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34621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7686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0604" y="527685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577584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634621"/>
            <a:ext cx="4347567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8171" y="47686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B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368171" y="527685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 Your Agent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368171" y="577584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min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634621"/>
            <a:ext cx="4347567" cy="9072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5738" y="47686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C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715738" y="527685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 Modes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715738" y="577584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9082"/>
            <a:ext cx="13042821" cy="2232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0"/>
              </a:lnSpc>
              <a:buNone/>
            </a:pPr>
            <a:r>
              <a:rPr lang="en-US" sz="1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2</a:t>
            </a:r>
            <a:endParaRPr lang="en-US" sz="14050" dirty="0"/>
          </a:p>
        </p:txBody>
      </p:sp>
      <p:sp>
        <p:nvSpPr>
          <p:cNvPr id="3" name="Text 1"/>
          <p:cNvSpPr/>
          <p:nvPr/>
        </p:nvSpPr>
        <p:spPr>
          <a:xfrm>
            <a:off x="793790" y="4752023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Agent Infrastructure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56876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Teaching: 20 min | Lab: 40 min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114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Agent Skills?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133951" y="3914180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"Folders of instructions, scripts, and resources that agents can discover and load dynamically"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453223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Anthropic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659029"/>
            <a:ext cx="30480" cy="149125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54054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 of them as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playbooks for AI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8508" y="515898"/>
            <a:ext cx="4911685" cy="61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Progressive Disclosure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1398508" y="1503878"/>
            <a:ext cx="1183326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 loads only what's needed, when needed.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508" y="2013466"/>
            <a:ext cx="11833265" cy="51906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84676" y="6054687"/>
            <a:ext cx="1788417" cy="33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Agent detects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984676" y="6482000"/>
            <a:ext cx="1788417" cy="256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Discovers KYC skill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666053" y="5798512"/>
            <a:ext cx="1788417" cy="33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Execute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66053" y="6225825"/>
            <a:ext cx="1788417" cy="512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with full context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06608" y="2479987"/>
            <a:ext cx="1788417" cy="33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asks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206608" y="2907300"/>
            <a:ext cx="1788417" cy="256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 me with KYC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5214" y="2479987"/>
            <a:ext cx="1788417" cy="67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instructions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65214" y="3243529"/>
            <a:ext cx="1788417" cy="512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Fetch only relevant steps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98508" y="7414498"/>
            <a:ext cx="1183326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loading everything upfront.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9399" y="474821"/>
            <a:ext cx="4528542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Skill Anatomy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1859399" y="1385888"/>
            <a:ext cx="10911602" cy="191452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1850827" y="1385888"/>
            <a:ext cx="10928747" cy="191452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2023229" y="1515189"/>
            <a:ext cx="10583942" cy="1655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
├── SKILL.md          # Required: YAML frontmatter + instructions
├── templates/        # Optional: Document templates
├── scripts/          # Optional: Automation scripts
└── examples/         # Optional: Few-shot examples
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859399" y="3494484"/>
            <a:ext cx="10911602" cy="4260294"/>
          </a:xfrm>
          <a:prstGeom prst="roundRect">
            <a:avLst>
              <a:gd name="adj" fmla="val 607"/>
            </a:avLst>
          </a:prstGeom>
          <a:solidFill>
            <a:srgbClr val="FFCDB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802" y="3749635"/>
            <a:ext cx="215622" cy="1724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19826" y="3709988"/>
            <a:ext cx="10178772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SKILL.md structure: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419826" y="4180046"/>
            <a:ext cx="10178772" cy="3294459"/>
          </a:xfrm>
          <a:prstGeom prst="roundRect">
            <a:avLst>
              <a:gd name="adj" fmla="val 785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2411254" y="4180046"/>
            <a:ext cx="10195917" cy="3294459"/>
          </a:xfrm>
          <a:prstGeom prst="roundRect">
            <a:avLst>
              <a:gd name="adj" fmla="val 785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2583656" y="4309348"/>
            <a:ext cx="9851112" cy="30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---
name: kyc-extraction
description: Extract and validate KYC documents
triggers: [kyc, identity verification, document check]
---
# KYC Extraction Workflow
## Step 1: Document Classification
...
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8660"/>
            <a:ext cx="78212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 Standard: agentskills.io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9065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across: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4937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2524601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46590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1133951" y="3341132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Copilot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28244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1133951" y="415766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OpenAI Codex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09897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1133951" y="497419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Cursor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91550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951" y="5790724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 Code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493788"/>
            <a:ext cx="10192583" cy="1027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50"/>
              </a:lnSpc>
              <a:buNone/>
            </a:pPr>
            <a:r>
              <a:rPr lang="en-US" sz="6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Write once, use everywhere.</a:t>
            </a:r>
            <a:endParaRPr lang="en-US" sz="6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0704" y="479703"/>
            <a:ext cx="4560570" cy="569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AI Stack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4018478" y="1397079"/>
            <a:ext cx="1098828" cy="1014413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4445675" y="1751528"/>
            <a:ext cx="244316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291018" y="1570792"/>
            <a:ext cx="1715095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LAYER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91018" y="1959888"/>
            <a:ext cx="1715095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proprietary data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04103" y="2401967"/>
            <a:ext cx="7518797" cy="11430"/>
          </a:xfrm>
          <a:prstGeom prst="roundRect">
            <a:avLst>
              <a:gd name="adj" fmla="val 228006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3469005" y="2498288"/>
            <a:ext cx="2197775" cy="1014413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445675" y="2852738"/>
            <a:ext cx="244316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40492" y="2672001"/>
            <a:ext cx="2090618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EVAL/MONITORING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840492" y="3061097"/>
            <a:ext cx="2090618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you measure quality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53576" y="3503176"/>
            <a:ext cx="6969323" cy="11430"/>
          </a:xfrm>
          <a:prstGeom prst="roundRect">
            <a:avLst>
              <a:gd name="adj" fmla="val 228006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2919532" y="3599497"/>
            <a:ext cx="3296603" cy="1014413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445675" y="3953947"/>
            <a:ext cx="244316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89846" y="3773210"/>
            <a:ext cx="2206943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SKILLS/WORKFLOWS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389846" y="4162306"/>
            <a:ext cx="2206943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business logic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2931" y="4604385"/>
            <a:ext cx="6419969" cy="11430"/>
          </a:xfrm>
          <a:prstGeom prst="roundRect">
            <a:avLst>
              <a:gd name="adj" fmla="val 228006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0058" y="4700707"/>
            <a:ext cx="4395549" cy="1014413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445675" y="5055156"/>
            <a:ext cx="244316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39320" y="4874419"/>
            <a:ext cx="1857732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ORCHESTRATION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939320" y="5263515"/>
            <a:ext cx="1857732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agents coordinate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2404" y="5705594"/>
            <a:ext cx="5870496" cy="11430"/>
          </a:xfrm>
          <a:prstGeom prst="roundRect">
            <a:avLst>
              <a:gd name="adj" fmla="val 228006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0704" y="5801916"/>
            <a:ext cx="5494496" cy="1014413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4445794" y="6156365"/>
            <a:ext cx="244316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88912" y="5975628"/>
            <a:ext cx="1525310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LAYER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488912" y="6364724"/>
            <a:ext cx="1525310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LLM itself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820704" y="7011710"/>
            <a:ext cx="10988993" cy="738068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4416" y="7274838"/>
            <a:ext cx="217170" cy="17371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385298" y="7228761"/>
            <a:ext cx="10250686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 of thumb: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Own higher layers, rent lower layers.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0150"/>
            <a:ext cx="635198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Vector DB Question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461385"/>
            <a:ext cx="492883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you still need Vector DB: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41348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Millions of documents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770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Sub-second latency requirements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191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Complex hybrid search (semantic + filters)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461385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you don't: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599521" y="41348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Thousands of docs (fits in tool search)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5770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 can query sources directly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191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Skills handle retrieval logic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7165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agent SDKs (Claude Agent SDK, etc.) provide: Tool Search, Files API, Memory, MCP Tools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5782"/>
            <a:ext cx="62824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Observability: Langfuse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330768"/>
            <a:ext cx="4980623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Open-source LLM observability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3790" y="3117533"/>
            <a:ext cx="6407944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37482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Traces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084" y="388298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request/response chains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117533"/>
            <a:ext cx="6408063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5842" y="337482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Costs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85842" y="388298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 usage per request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729996"/>
            <a:ext cx="6407944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084" y="49872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Latency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51084" y="5495449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 times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4729996"/>
            <a:ext cx="6408063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5842" y="49872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Prompt versions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685842" y="549544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A/B testing prompts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3707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options: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Self-hosted (full control) | Cloud (managed)</a:t>
            </a:r>
            <a:endParaRPr lang="en-US" sz="1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8996"/>
            <a:ext cx="69472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Testing: Ragas Framework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323981"/>
            <a:ext cx="3699034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Evaluate RAG pipelines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3790" y="3110746"/>
            <a:ext cx="13042821" cy="3629739"/>
          </a:xfrm>
          <a:prstGeom prst="roundRect">
            <a:avLst>
              <a:gd name="adj" fmla="val 9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11836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326207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326207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Measures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768685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391239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Faithfulness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3912394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answer match retrieved context? (hallucination detection)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78190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224" y="492561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 Relevancy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492561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answer address the question?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43222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224" y="557593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 Precision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57593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retrieved context relevant?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608254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622625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Citation Accuracy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622625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 sources correctly attributed?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773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Decision Framework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145625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153245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229695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229695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When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229695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 When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803565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294727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294727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(for most)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294727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(Azure OpenAI, etc.)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453884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359759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Orchestration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359759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differentiator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359759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patterns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104203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424791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424791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Proprietary workflows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424791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Generic tasks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754523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489823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489823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metrics needed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489823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benchmarks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404842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9653" y="554855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Observability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375077" y="554855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Strict data residency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16691" y="554855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 to market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93790" y="6317933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662023"/>
            <a:ext cx="283488" cy="22681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30906" y="6601420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Hybrid: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Own the workflow, rent the compute.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9082"/>
            <a:ext cx="13042821" cy="2232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0"/>
              </a:lnSpc>
              <a:buNone/>
            </a:pPr>
            <a:r>
              <a:rPr lang="en-US" sz="1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3</a:t>
            </a:r>
            <a:endParaRPr lang="en-US" sz="14050" dirty="0"/>
          </a:p>
        </p:txBody>
      </p:sp>
      <p:sp>
        <p:nvSpPr>
          <p:cNvPr id="3" name="Text 1"/>
          <p:cNvSpPr/>
          <p:nvPr/>
        </p:nvSpPr>
        <p:spPr>
          <a:xfrm>
            <a:off x="793790" y="4752023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Ship It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56876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Teaching: 10 min | Lab: 50 min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2026-01-14T03:09:14Z</dcterms:created>
  <dcterms:modified xsi:type="dcterms:W3CDTF">2026-01-14T03:09:14Z</dcterms:modified>
</cp:coreProperties>
</file>